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7C3AED">
              <a:alpha val="8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6400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400" kern="0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intigriti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94360" y="1261872"/>
            <a:ext cx="2743200" cy="27432"/>
          </a:xfrm>
          <a:prstGeom prst="rect">
            <a:avLst/>
          </a:prstGeom>
          <a:solidFill>
            <a:srgbClr val="A78BFA">
              <a:alpha val="6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17320"/>
            <a:ext cx="5943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Securing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Starling Bank's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94360" y="36118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Continuous Security Partnership Built for UK Fintech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James Collins, CISO  ·  Starling Bank  ·  2026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17920" y="128016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70K+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5943600" y="24231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HACKERS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spc="1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WORK FOR YOU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78BFA"/>
                </a:solidFill>
              </a:rPr>
              <a:t>CONTEXT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Starling Stands Today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170432"/>
            <a:ext cx="8321040" cy="27432"/>
          </a:xfrm>
          <a:prstGeom prst="rect">
            <a:avLst/>
          </a:prstGeom>
          <a:solidFill>
            <a:srgbClr val="7C3AED">
              <a:alpha val="5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325880"/>
            <a:ext cx="3886200" cy="3429000"/>
          </a:xfrm>
          <a:prstGeom prst="rect">
            <a:avLst/>
          </a:prstGeom>
          <a:solidFill>
            <a:srgbClr val="1A1640"/>
          </a:solidFill>
          <a:ln w="6350">
            <a:solidFill>
              <a:srgbClr val="7C3AED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325880"/>
            <a:ext cx="64008" cy="3429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48132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Current Security Posture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938528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938528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HackerOne VDP — public acknowledgment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94360" y="2423160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242316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researcher pilot on pre-prod systems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94360" y="2907792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290779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£12.1B deposits, 4.6M accounts — rapidly scaling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94360" y="3392424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⚠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3392424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paid bug bounty program yet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94360" y="3877056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⚠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" y="3877056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by Starling adds new API attack surface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94360" y="4361688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✗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4361688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£29M FCA fine: sanctions screening misconfiguration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undetected for years by internal teams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0" y="1325880"/>
            <a:ext cx="4160520" cy="3429000"/>
          </a:xfrm>
          <a:prstGeom prst="rect">
            <a:avLst/>
          </a:prstGeom>
          <a:solidFill>
            <a:srgbClr val="13112E"/>
          </a:solidFill>
          <a:ln w="9525">
            <a:solidFill>
              <a:srgbClr val="A78BF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0" y="1325880"/>
            <a:ext cx="64008" cy="3429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82312" y="148132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Opportunity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782312" y="1920240"/>
            <a:ext cx="3749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Starling is mid-journey. </a:t>
            </a:r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VDP proves the intent. The private pilot proves the team can operate it.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missing is the engine: 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managed, rewarded, continuous program</a:t>
            </a:r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turns external researcher talent into a force multiplier — before the next audit cycle.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782312" y="374904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"The £29M fine wasn't a breach —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was a misconfiguration that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persisted unnoticed. That's exactly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bug bounty catches first."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78BFA"/>
                </a:solidFill>
              </a:rPr>
              <a:t>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Pentests Protect the Audit. Bug Bounty Protects Everything Else.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170432"/>
            <a:ext cx="8321040" cy="27432"/>
          </a:xfrm>
          <a:prstGeom prst="rect">
            <a:avLst/>
          </a:prstGeom>
          <a:solidFill>
            <a:srgbClr val="7C3AED">
              <a:alpha val="5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325880"/>
            <a:ext cx="3886200" cy="3429000"/>
          </a:xfrm>
          <a:prstGeom prst="rect">
            <a:avLst/>
          </a:prstGeom>
          <a:solidFill>
            <a:srgbClr val="1A1640"/>
          </a:solidFill>
          <a:ln w="6350">
            <a:solidFill>
              <a:srgbClr val="7C3AED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325880"/>
            <a:ext cx="388620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898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PENTEST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48840" y="19202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Point-in-time snapshot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31343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48840" y="231343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consultants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70662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surface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48840" y="270662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Fixed, agreed scope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3099816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speed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48840" y="309981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in 4–8 weeks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49300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audits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48840" y="349300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spot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38862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model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148840" y="3886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rate × days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427939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FCA compliance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148840" y="427939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checkbox ✓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0" y="1325880"/>
            <a:ext cx="4160520" cy="3429000"/>
          </a:xfrm>
          <a:prstGeom prst="rect">
            <a:avLst/>
          </a:prstGeom>
          <a:solidFill>
            <a:srgbClr val="13112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0" y="1325880"/>
            <a:ext cx="4160520" cy="45720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13898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INTIGRITI BUG BOUNTY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09160" y="19202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09360" y="19202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Continuous, always-on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09160" y="231343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09360" y="231343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70,000+ researchers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09160" y="270662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surface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09360" y="2706624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Evolves with your product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09160" y="3099816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speed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309360" y="3099816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24–48hr validated report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709160" y="349300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audits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309360" y="349300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coverage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709160" y="38862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model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309360" y="38862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only for valid bugs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709160" y="427939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FCA compliance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309360" y="427939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+ audit ✓✓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11480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78BFA"/>
                </a:solidFill>
              </a:rPr>
              <a:t>THE PLATFORM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Pillars That Set Us Apart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170432"/>
            <a:ext cx="8321040" cy="27432"/>
          </a:xfrm>
          <a:prstGeom prst="rect">
            <a:avLst/>
          </a:prstGeom>
          <a:solidFill>
            <a:srgbClr val="7C3AED">
              <a:alpha val="5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325880"/>
            <a:ext cx="2697480" cy="3657600"/>
          </a:xfrm>
          <a:prstGeom prst="rect">
            <a:avLst/>
          </a:prstGeom>
          <a:solidFill>
            <a:srgbClr val="1A1640"/>
          </a:solidFill>
          <a:ln w="9525">
            <a:solidFill>
              <a:srgbClr val="7C3AED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325880"/>
            <a:ext cx="269748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087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94360" y="19659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70,000+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Ethical Hackers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278892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Europe's largest researcher community. Continuous coverage across web, API, mobile, and cloud — not 2 consultants for 5 days.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4069080"/>
            <a:ext cx="2331720" cy="685800"/>
          </a:xfrm>
          <a:prstGeom prst="rect">
            <a:avLst/>
          </a:prstGeom>
          <a:solidFill>
            <a:srgbClr val="0B0A18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41148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24–48hr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94360" y="443484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time to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finding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337560" y="1325880"/>
            <a:ext cx="2697480" cy="3657600"/>
          </a:xfrm>
          <a:prstGeom prst="rect">
            <a:avLst/>
          </a:prstGeom>
          <a:solidFill>
            <a:srgbClr val="1A1640"/>
          </a:solidFill>
          <a:ln w="9525">
            <a:solidFill>
              <a:srgbClr val="A78BF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37560" y="1325880"/>
            <a:ext cx="2697480" cy="731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20440" y="15087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520440" y="19659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Managed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Triage Layer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520440" y="278892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team only sees validated, severity-rated bugs. Researchers get paid only for confirmed findings. Zero noise in your queue.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520440" y="4069080"/>
            <a:ext cx="2331720" cy="685800"/>
          </a:xfrm>
          <a:prstGeom prst="rect">
            <a:avLst/>
          </a:prstGeom>
          <a:solidFill>
            <a:srgbClr val="0B0A18"/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20440" y="41148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520440" y="443484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unvalidated reports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your team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263640" y="1325880"/>
            <a:ext cx="2697480" cy="3657600"/>
          </a:xfrm>
          <a:prstGeom prst="rect">
            <a:avLst/>
          </a:prstGeom>
          <a:solidFill>
            <a:srgbClr val="1A1640"/>
          </a:solidFill>
          <a:ln w="9525">
            <a:solidFill>
              <a:srgbClr val="10B981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63640" y="1325880"/>
            <a:ext cx="269748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15087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446520" y="19659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European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Residency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46520" y="278892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GDPR-compliant by design. All data stays in the EU. Built for FCA-regulated financial services — not retrofitted.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46520" y="4069080"/>
            <a:ext cx="2331720" cy="685800"/>
          </a:xfrm>
          <a:prstGeom prst="rect">
            <a:avLst/>
          </a:prstGeom>
          <a:solidFill>
            <a:srgbClr val="0B0A18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46520" y="41148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GDPR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446520" y="443484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compliance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FCA-aligned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78BFA"/>
                </a:solidFill>
              </a:rPr>
              <a:t>RETURN ON INVESTMENT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Math Doesn't Need a Sales Pitch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170432"/>
            <a:ext cx="8321040" cy="27432"/>
          </a:xfrm>
          <a:prstGeom prst="rect">
            <a:avLst/>
          </a:prstGeom>
          <a:solidFill>
            <a:srgbClr val="7C3AED">
              <a:alpha val="5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371600"/>
            <a:ext cx="2697480" cy="2286000"/>
          </a:xfrm>
          <a:prstGeom prst="rect">
            <a:avLst/>
          </a:prstGeom>
          <a:solidFill>
            <a:srgbClr val="1A1640"/>
          </a:solidFill>
          <a:ln w="6350">
            <a:solidFill>
              <a:srgbClr val="7C3AED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55448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$4.88M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48640" y="25146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cost of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breach (2024)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09067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Security Report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37560" y="1371600"/>
            <a:ext cx="2697480" cy="2286000"/>
          </a:xfrm>
          <a:prstGeom prst="rect">
            <a:avLst/>
          </a:prstGeom>
          <a:solidFill>
            <a:srgbClr val="1A1640"/>
          </a:solidFill>
          <a:ln w="6350">
            <a:solidFill>
              <a:srgbClr val="7C3AED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37560" y="155448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~$6K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3474720" y="25146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bounty for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critical vulnerability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74720" y="309067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Intigriti platform data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263640" y="1371600"/>
            <a:ext cx="2697480" cy="2286000"/>
          </a:xfrm>
          <a:prstGeom prst="rect">
            <a:avLst/>
          </a:prstGeom>
          <a:solidFill>
            <a:srgbClr val="1A1640"/>
          </a:solidFill>
          <a:ln w="6350">
            <a:solidFill>
              <a:srgbClr val="7C3AED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63640" y="155448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$84K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6400800" y="25146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annual cost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 managed program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0" y="309067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$456K+ for equiv. staff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11480" y="3840480"/>
            <a:ext cx="8321040" cy="914400"/>
          </a:xfrm>
          <a:prstGeom prst="rect">
            <a:avLst/>
          </a:prstGeom>
          <a:solidFill>
            <a:srgbClr val="7C3AED">
              <a:alpha val="85000"/>
            </a:srgbClr>
          </a:solidFill>
          <a:ln w="9525">
            <a:solidFill>
              <a:srgbClr val="7C3AED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3931920"/>
            <a:ext cx="7955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customer case study: </a:t>
            </a:r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€12K bounty budget invested over 2 years → </a:t>
            </a:r>
            <a:pPr algn="l"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critical vulnerabilities found</a:t>
            </a:r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could have led to millions in breach costs.</a:t>
            </a:r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Average data breach in financial services: </a:t>
            </a:r>
            <a:pPr algn="l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&gt;€4.7M.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78BFA"/>
                </a:solidFill>
              </a:rPr>
              <a:t>INDUSTRY FIT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Purpose-Built for FCA-Regulated Financial Services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170432"/>
            <a:ext cx="8321040" cy="27432"/>
          </a:xfrm>
          <a:prstGeom prst="rect">
            <a:avLst/>
          </a:prstGeom>
          <a:solidFill>
            <a:srgbClr val="7C3AED">
              <a:alpha val="5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371600"/>
            <a:ext cx="4023360" cy="1691640"/>
          </a:xfrm>
          <a:prstGeom prst="rect">
            <a:avLst/>
          </a:prstGeom>
          <a:solidFill>
            <a:srgbClr val="1A1640"/>
          </a:solidFill>
          <a:ln w="6350">
            <a:solidFill>
              <a:srgbClr val="7C3AED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371600"/>
            <a:ext cx="64008" cy="1691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36192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🇪🇺  European Data Residency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3703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program data stays within the EU. No cross-border data transfer concerns for FCA/PRA-regulated institutions. GDPR-native, not retrofitted.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4023360" cy="1691640"/>
          </a:xfrm>
          <a:prstGeom prst="rect">
            <a:avLst/>
          </a:prstGeom>
          <a:solidFill>
            <a:srgbClr val="1A1640"/>
          </a:solidFill>
          <a:ln w="6350">
            <a:solidFill>
              <a:srgbClr val="7C3AED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371600"/>
            <a:ext cx="64008" cy="1691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536192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⚖️  FCA Vulnerability Disclosure Alignment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1965960"/>
            <a:ext cx="3703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bounty directly supports FCA PS21/3 operational resilience requirements. Demonstrates proactive threat identification — not just reactive incident response.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3246120"/>
            <a:ext cx="4023360" cy="1691640"/>
          </a:xfrm>
          <a:prstGeom prst="rect">
            <a:avLst/>
          </a:prstGeom>
          <a:solidFill>
            <a:srgbClr val="1A1640"/>
          </a:solidFill>
          <a:ln w="6350">
            <a:solidFill>
              <a:srgbClr val="7C3AED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" y="3246120"/>
            <a:ext cx="64008" cy="1691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410712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🏦  Monzo Is Already Running Publicly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3840480"/>
            <a:ext cx="3703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Starling's direct competitor just launched a public bug bounty. When the category leader goes public, the question becomes: what does it look like when you don't have one?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3246120"/>
            <a:ext cx="4023360" cy="1691640"/>
          </a:xfrm>
          <a:prstGeom prst="rect">
            <a:avLst/>
          </a:prstGeom>
          <a:solidFill>
            <a:srgbClr val="1A1640"/>
          </a:solidFill>
          <a:ln w="6350">
            <a:solidFill>
              <a:srgbClr val="7C3AED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3246120"/>
            <a:ext cx="64008" cy="1691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3410712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📈  Scaling Attack Surface Demands Continuous Coverage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92040" y="3840480"/>
            <a:ext cx="3703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4.6M accounts, Engine by Starling APIs, third-party integrations. Every release cycle adds new surface. Quarterly pentests can't keep pace.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78BFA"/>
                </a:solidFill>
              </a:rPr>
              <a:t>YOUR PATH FORWARD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Journey, Not a Switch — Start Controlled, Scale With Confidence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170432"/>
            <a:ext cx="8321040" cy="27432"/>
          </a:xfrm>
          <a:prstGeom prst="rect">
            <a:avLst/>
          </a:prstGeom>
          <a:solidFill>
            <a:srgbClr val="7C3AED">
              <a:alpha val="5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63240" y="2697480"/>
            <a:ext cx="274320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89320" y="2697480"/>
            <a:ext cx="274320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325880"/>
            <a:ext cx="2651760" cy="3657600"/>
          </a:xfrm>
          <a:prstGeom prst="rect">
            <a:avLst/>
          </a:prstGeom>
          <a:solidFill>
            <a:srgbClr val="1A1640"/>
          </a:solidFill>
          <a:ln w="9525">
            <a:solidFill>
              <a:srgbClr val="7C3AED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325880"/>
            <a:ext cx="265176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38988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28800" y="138988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1–3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19202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Managed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Private Program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26517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defined by your team (Alex drives this)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305409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Invite-only curated researcher pool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345643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Pre-production and selected prod APIs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38587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triage: Sam's team sees only validated bugs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426110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the researcher community before going wider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14400" y="4709160"/>
            <a:ext cx="1691640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70916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 START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337560" y="1325880"/>
            <a:ext cx="2651760" cy="3657600"/>
          </a:xfrm>
          <a:prstGeom prst="rect">
            <a:avLst/>
          </a:prstGeom>
          <a:solidFill>
            <a:srgbClr val="1A1640"/>
          </a:solidFill>
          <a:ln w="9525">
            <a:solidFill>
              <a:srgbClr val="A78BF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337560" y="1325880"/>
            <a:ext cx="2651760" cy="502920"/>
          </a:xfrm>
          <a:prstGeom prst="rect">
            <a:avLst/>
          </a:prstGeom>
          <a:solidFill>
            <a:srgbClr val="A78BFA">
              <a:alpha val="6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138988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54880" y="138988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4–9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74720" y="19202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Expanded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Private Program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474720" y="26517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expands based on Phase 1 learnings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474720" y="305409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Larger, rated researcher pool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474720" y="345643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systems with confidence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474720" y="38587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bounty becomes part of SDLC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474720" y="426110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FCA can see active, continuous testing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63640" y="1325880"/>
            <a:ext cx="2651760" cy="3657600"/>
          </a:xfrm>
          <a:prstGeom prst="rect">
            <a:avLst/>
          </a:prstGeom>
          <a:solidFill>
            <a:srgbClr val="1A1640"/>
          </a:solidFill>
          <a:ln w="9525">
            <a:solidFill>
              <a:srgbClr val="10B981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63640" y="1325880"/>
            <a:ext cx="2651760" cy="502920"/>
          </a:xfrm>
          <a:prstGeom prst="rect">
            <a:avLst/>
          </a:prstGeom>
          <a:solidFill>
            <a:srgbClr val="10B981">
              <a:alpha val="6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138988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680960" y="138988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10+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00800" y="19202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Public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Bug Bounty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400800" y="26517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program signals security leadership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400800" y="305409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Monzo-level external confidence signal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400800" y="345643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researcher community engagement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400800" y="38587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researcher recognition &amp; rewards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400800" y="426110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differentiation vs. competitors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Scope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Program.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94360" y="242316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commitment. No budget required.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2880360"/>
            <a:ext cx="5120640" cy="1737360"/>
          </a:xfrm>
          <a:prstGeom prst="rect">
            <a:avLst/>
          </a:prstGeom>
          <a:solidFill>
            <a:srgbClr val="1A1640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30175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 45-Minute Scoping Call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77240" y="347472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cost-per-bug specific to Starling's attack surface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77240" y="381304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what Phase 1 scope looks like (Alex leads this)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77240" y="415137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a custom ROI model to take to your CFO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760720" y="777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told us you need: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760720" y="1188720"/>
            <a:ext cx="3154680" cy="822960"/>
          </a:xfrm>
          <a:prstGeom prst="rect">
            <a:avLst/>
          </a:prstGeom>
          <a:solidFill>
            <a:srgbClr val="13112E"/>
          </a:solidFill>
          <a:ln w="5080">
            <a:solidFill>
              <a:srgbClr val="A78BF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897880" y="126187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FCA compliance pressure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897880" y="16002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Proactive coverage + audit evidence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760720" y="2148840"/>
            <a:ext cx="3154680" cy="822960"/>
          </a:xfrm>
          <a:prstGeom prst="rect">
            <a:avLst/>
          </a:prstGeom>
          <a:solidFill>
            <a:srgbClr val="13112E"/>
          </a:solidFill>
          <a:ln w="5080">
            <a:solidFill>
              <a:srgbClr val="A78BF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897880" y="222199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noise concerns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897880" y="25603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Validated-only queue for Sam's team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760720" y="3108960"/>
            <a:ext cx="3154680" cy="822960"/>
          </a:xfrm>
          <a:prstGeom prst="rect">
            <a:avLst/>
          </a:prstGeom>
          <a:solidFill>
            <a:srgbClr val="13112E"/>
          </a:solidFill>
          <a:ln w="5080">
            <a:solidFill>
              <a:srgbClr val="A78BF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97880" y="31821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control for production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897880" y="35204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Alex-defined, invite-only to start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94360" y="47548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intigriti.com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Intigriti × Starling Bank — Bug Bounty Proposal</dc:title>
  <dc:subject>PptxGenJS Presentation</dc:subject>
  <dc:creator>Saul Cabrera</dc:creator>
  <cp:lastModifiedBy>Saul Cabrera</cp:lastModifiedBy>
  <cp:revision>1</cp:revision>
  <dcterms:created xsi:type="dcterms:W3CDTF">2026-03-20T01:09:34Z</dcterms:created>
  <dcterms:modified xsi:type="dcterms:W3CDTF">2026-03-20T01:09:34Z</dcterms:modified>
</cp:coreProperties>
</file>